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63" r:id="rId3"/>
    <p:sldId id="265" r:id="rId4"/>
    <p:sldId id="257" r:id="rId5"/>
    <p:sldId id="258" r:id="rId6"/>
    <p:sldId id="259" r:id="rId7"/>
    <p:sldId id="261" r:id="rId8"/>
    <p:sldId id="262" r:id="rId9"/>
    <p:sldId id="264" r:id="rId10"/>
    <p:sldId id="260" r:id="rId11"/>
    <p:sldId id="266" r:id="rId12"/>
    <p:sldId id="267" r:id="rId13"/>
  </p:sldIdLst>
  <p:sldSz cx="18000663" cy="8640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D6758E7-231E-476F-9B7A-5855081193E6}">
          <p14:sldIdLst>
            <p14:sldId id="256"/>
            <p14:sldId id="263"/>
          </p14:sldIdLst>
        </p14:section>
        <p14:section name="Untitled Section" id="{CE329BDB-CB9A-40F6-A1AF-4645F542ACC6}">
          <p14:sldIdLst>
            <p14:sldId id="265"/>
            <p14:sldId id="257"/>
            <p14:sldId id="258"/>
            <p14:sldId id="259"/>
            <p14:sldId id="261"/>
            <p14:sldId id="262"/>
            <p14:sldId id="264"/>
            <p14:sldId id="260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516CAD-C786-7B29-061B-7652E530AD7E}" v="5" dt="2026-01-13T15:05:52.926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56" d="100"/>
          <a:sy n="56" d="100"/>
        </p:scale>
        <p:origin x="691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35516CAD-C786-7B29-061B-7652E530AD7E}"/>
    <pc:docChg chg="sldOrd modSection">
      <pc:chgData name="Guest User" userId="" providerId="Windows Live" clId="Web-{35516CAD-C786-7B29-061B-7652E530AD7E}" dt="2026-01-13T15:05:52.926" v="4"/>
      <pc:docMkLst>
        <pc:docMk/>
      </pc:docMkLst>
      <pc:sldChg chg="ord">
        <pc:chgData name="Guest User" userId="" providerId="Windows Live" clId="Web-{35516CAD-C786-7B29-061B-7652E530AD7E}" dt="2026-01-13T15:05:52.926" v="4"/>
        <pc:sldMkLst>
          <pc:docMk/>
          <pc:sldMk cId="1111259118" sldId="263"/>
        </pc:sldMkLst>
      </pc:sldChg>
      <pc:sldChg chg="ord">
        <pc:chgData name="Guest User" userId="" providerId="Windows Live" clId="Web-{35516CAD-C786-7B29-061B-7652E530AD7E}" dt="2026-01-13T14:32:55.616" v="0"/>
        <pc:sldMkLst>
          <pc:docMk/>
          <pc:sldMk cId="1583024491" sldId="265"/>
        </pc:sldMkLst>
      </pc:sldChg>
      <pc:sldChg chg="ord">
        <pc:chgData name="Guest User" userId="" providerId="Windows Live" clId="Web-{35516CAD-C786-7B29-061B-7652E530AD7E}" dt="2026-01-13T15:05:48.473" v="3"/>
        <pc:sldMkLst>
          <pc:docMk/>
          <pc:sldMk cId="1403147617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806280" y="-6000"/>
            <a:ext cx="7404178" cy="8646764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23586" y="1738822"/>
            <a:ext cx="12659849" cy="3296290"/>
          </a:xfrm>
        </p:spPr>
        <p:txBody>
          <a:bodyPr anchor="b">
            <a:normAutofit/>
          </a:bodyPr>
          <a:lstStyle>
            <a:lvl1pPr algn="r">
              <a:defRPr sz="756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66649" y="5035112"/>
            <a:ext cx="10316785" cy="1749489"/>
          </a:xfrm>
        </p:spPr>
        <p:txBody>
          <a:bodyPr anchor="t">
            <a:normAutofit/>
          </a:bodyPr>
          <a:lstStyle>
            <a:lvl1pPr marL="0" indent="0" algn="r">
              <a:buNone/>
              <a:defRPr sz="2646">
                <a:solidFill>
                  <a:schemeClr val="tx1"/>
                </a:solidFill>
              </a:defRPr>
            </a:lvl1pPr>
            <a:lvl2pPr marL="5760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52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8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04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56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325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085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7D56-B158-4486-8696-55F93A8B71C2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872946" y="7412655"/>
            <a:ext cx="6384158" cy="46004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F9D75-8480-4CA8-A6AB-9A9BFDE5D1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114650"/>
      </p:ext>
    </p:extLst>
  </p:cSld>
  <p:clrMapOvr>
    <a:masterClrMapping/>
  </p:clrMapOvr>
  <p:transition spd="slow">
    <p:wheel spokes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7D56-B158-4486-8696-55F93A8B71C2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169675" y="7392314"/>
            <a:ext cx="813761" cy="460041"/>
          </a:xfrm>
        </p:spPr>
        <p:txBody>
          <a:bodyPr/>
          <a:lstStyle/>
          <a:p>
            <a:fld id="{C86F9D75-8480-4CA8-A6AB-9A9BFDE5D1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057224"/>
      </p:ext>
    </p:extLst>
  </p:cSld>
  <p:clrMapOvr>
    <a:masterClrMapping/>
  </p:clrMapOvr>
  <p:transition spd="slow">
    <p:wheel spokes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7796" y="3360295"/>
            <a:ext cx="13185644" cy="2658984"/>
          </a:xfrm>
        </p:spPr>
        <p:txBody>
          <a:bodyPr anchor="b"/>
          <a:lstStyle>
            <a:lvl1pPr algn="r">
              <a:defRPr sz="50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97794" y="6019279"/>
            <a:ext cx="13185645" cy="1084064"/>
          </a:xfrm>
        </p:spPr>
        <p:txBody>
          <a:bodyPr anchor="t">
            <a:normAutofit/>
          </a:bodyPr>
          <a:lstStyle>
            <a:lvl1pPr marL="0" indent="0" algn="r">
              <a:buNone/>
              <a:defRPr sz="2520">
                <a:solidFill>
                  <a:schemeClr val="tx1"/>
                </a:solidFill>
              </a:defRPr>
            </a:lvl1pPr>
            <a:lvl2pPr marL="576072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2pPr>
            <a:lvl3pPr marL="1152144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3pPr>
            <a:lvl4pPr marL="172821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30428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88036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45643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4032504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60857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7D56-B158-4486-8696-55F93A8B71C2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F9D75-8480-4CA8-A6AB-9A9BFDE5D1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291897"/>
      </p:ext>
    </p:extLst>
  </p:cSld>
  <p:clrMapOvr>
    <a:masterClrMapping/>
  </p:clrMapOvr>
  <p:transition spd="slow">
    <p:wheel spokes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485" y="864077"/>
            <a:ext cx="14791952" cy="22081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1487" y="3360296"/>
            <a:ext cx="7227217" cy="3936349"/>
          </a:xfrm>
        </p:spPr>
        <p:txBody>
          <a:bodyPr>
            <a:normAutofit/>
          </a:bodyPr>
          <a:lstStyle>
            <a:lvl1pPr>
              <a:defRPr sz="2268"/>
            </a:lvl1pPr>
            <a:lvl2pPr>
              <a:defRPr sz="2016"/>
            </a:lvl2pPr>
            <a:lvl3pPr>
              <a:defRPr sz="1764"/>
            </a:lvl3pPr>
            <a:lvl4pPr>
              <a:defRPr sz="1512"/>
            </a:lvl4pPr>
            <a:lvl5pPr>
              <a:defRPr sz="1512"/>
            </a:lvl5pPr>
            <a:lvl6pPr>
              <a:defRPr sz="1512"/>
            </a:lvl6pPr>
            <a:lvl7pPr>
              <a:defRPr sz="1512"/>
            </a:lvl7pPr>
            <a:lvl8pPr>
              <a:defRPr sz="1512"/>
            </a:lvl8pPr>
            <a:lvl9pPr>
              <a:defRPr sz="151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56216" y="3360297"/>
            <a:ext cx="7227219" cy="3936348"/>
          </a:xfrm>
        </p:spPr>
        <p:txBody>
          <a:bodyPr>
            <a:normAutofit/>
          </a:bodyPr>
          <a:lstStyle>
            <a:lvl1pPr>
              <a:defRPr sz="2268"/>
            </a:lvl1pPr>
            <a:lvl2pPr>
              <a:defRPr sz="2016"/>
            </a:lvl2pPr>
            <a:lvl3pPr>
              <a:defRPr sz="1764"/>
            </a:lvl3pPr>
            <a:lvl4pPr>
              <a:defRPr sz="1512"/>
            </a:lvl4pPr>
            <a:lvl5pPr>
              <a:defRPr sz="1512"/>
            </a:lvl5pPr>
            <a:lvl6pPr>
              <a:defRPr sz="1512"/>
            </a:lvl6pPr>
            <a:lvl7pPr>
              <a:defRPr sz="1512"/>
            </a:lvl7pPr>
            <a:lvl8pPr>
              <a:defRPr sz="1512"/>
            </a:lvl8pPr>
            <a:lvl9pPr>
              <a:defRPr sz="151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7D56-B158-4486-8696-55F93A8B71C2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F9D75-8480-4CA8-A6AB-9A9BFDE5D1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137015"/>
      </p:ext>
    </p:extLst>
  </p:cSld>
  <p:clrMapOvr>
    <a:masterClrMapping/>
  </p:clrMapOvr>
  <p:transition spd="slow">
    <p:wheel spokes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16503" y="3349629"/>
            <a:ext cx="6802201" cy="726063"/>
          </a:xfrm>
        </p:spPr>
        <p:txBody>
          <a:bodyPr anchor="b">
            <a:noAutofit/>
          </a:bodyPr>
          <a:lstStyle>
            <a:lvl1pPr marL="0" indent="0">
              <a:buNone/>
              <a:defRPr sz="3528" b="0">
                <a:solidFill>
                  <a:schemeClr val="accent1">
                    <a:lumMod val="75000"/>
                  </a:schemeClr>
                </a:solidFill>
              </a:defRPr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1485" y="4202370"/>
            <a:ext cx="7227219" cy="3094273"/>
          </a:xfrm>
        </p:spPr>
        <p:txBody>
          <a:bodyPr anchor="t">
            <a:normAutofit/>
          </a:bodyPr>
          <a:lstStyle>
            <a:lvl1pPr>
              <a:defRPr sz="2268"/>
            </a:lvl1pPr>
            <a:lvl2pPr>
              <a:defRPr sz="2016"/>
            </a:lvl2pPr>
            <a:lvl3pPr>
              <a:defRPr sz="1764"/>
            </a:lvl3pPr>
            <a:lvl4pPr>
              <a:defRPr sz="1512"/>
            </a:lvl4pPr>
            <a:lvl5pPr>
              <a:defRPr sz="1512"/>
            </a:lvl5pPr>
            <a:lvl6pPr>
              <a:defRPr sz="1512"/>
            </a:lvl6pPr>
            <a:lvl7pPr>
              <a:defRPr sz="1512"/>
            </a:lvl7pPr>
            <a:lvl8pPr>
              <a:defRPr sz="1512"/>
            </a:lvl8pPr>
            <a:lvl9pPr>
              <a:defRPr sz="151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58574" y="3360297"/>
            <a:ext cx="6824863" cy="726063"/>
          </a:xfrm>
        </p:spPr>
        <p:txBody>
          <a:bodyPr anchor="b">
            <a:noAutofit/>
          </a:bodyPr>
          <a:lstStyle>
            <a:lvl1pPr marL="0" indent="0">
              <a:buNone/>
              <a:defRPr sz="3528" b="0">
                <a:solidFill>
                  <a:schemeClr val="accent1">
                    <a:lumMod val="75000"/>
                  </a:schemeClr>
                </a:solidFill>
              </a:defRPr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756216" y="4202370"/>
            <a:ext cx="7227219" cy="3094273"/>
          </a:xfrm>
        </p:spPr>
        <p:txBody>
          <a:bodyPr anchor="t">
            <a:normAutofit/>
          </a:bodyPr>
          <a:lstStyle>
            <a:lvl1pPr>
              <a:defRPr sz="2268"/>
            </a:lvl1pPr>
            <a:lvl2pPr>
              <a:defRPr sz="2016"/>
            </a:lvl2pPr>
            <a:lvl3pPr>
              <a:defRPr sz="1764"/>
            </a:lvl3pPr>
            <a:lvl4pPr>
              <a:defRPr sz="1512"/>
            </a:lvl4pPr>
            <a:lvl5pPr>
              <a:defRPr sz="1512"/>
            </a:lvl5pPr>
            <a:lvl6pPr>
              <a:defRPr sz="1512"/>
            </a:lvl6pPr>
            <a:lvl7pPr>
              <a:defRPr sz="1512"/>
            </a:lvl7pPr>
            <a:lvl8pPr>
              <a:defRPr sz="1512"/>
            </a:lvl8pPr>
            <a:lvl9pPr>
              <a:defRPr sz="151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7D56-B158-4486-8696-55F93A8B71C2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F9D75-8480-4CA8-A6AB-9A9BFDE5D1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925847"/>
      </p:ext>
    </p:extLst>
  </p:cSld>
  <p:clrMapOvr>
    <a:masterClrMapping/>
  </p:clrMapOvr>
  <p:transition spd="slow">
    <p:wheel spokes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7D56-B158-4486-8696-55F93A8B71C2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F9D75-8480-4CA8-A6AB-9A9BFDE5D1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600389"/>
      </p:ext>
    </p:extLst>
  </p:cSld>
  <p:clrMapOvr>
    <a:masterClrMapping/>
  </p:clrMapOvr>
  <p:transition spd="slow">
    <p:wheel spokes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7D56-B158-4486-8696-55F93A8B71C2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F9D75-8480-4CA8-A6AB-9A9BFDE5D1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835290"/>
      </p:ext>
    </p:extLst>
  </p:cSld>
  <p:clrMapOvr>
    <a:masterClrMapping/>
  </p:clrMapOvr>
  <p:transition spd="slow">
    <p:wheel spokes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487" y="2016178"/>
            <a:ext cx="5240037" cy="1728153"/>
          </a:xfrm>
        </p:spPr>
        <p:txBody>
          <a:bodyPr anchor="b">
            <a:normAutofit/>
          </a:bodyPr>
          <a:lstStyle>
            <a:lvl1pPr algn="ctr">
              <a:defRPr sz="3024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69036" y="864076"/>
            <a:ext cx="9214399" cy="6432569"/>
          </a:xfrm>
        </p:spPr>
        <p:txBody>
          <a:bodyPr anchor="ctr">
            <a:normAutofit/>
          </a:bodyPr>
          <a:lstStyle>
            <a:lvl1pPr>
              <a:defRPr sz="2520"/>
            </a:lvl1pPr>
            <a:lvl2pPr>
              <a:defRPr sz="2268"/>
            </a:lvl2pPr>
            <a:lvl3pPr>
              <a:defRPr sz="2016"/>
            </a:lvl3pPr>
            <a:lvl4pPr>
              <a:defRPr sz="1764"/>
            </a:lvl4pPr>
            <a:lvl5pPr>
              <a:defRPr sz="1764"/>
            </a:lvl5pPr>
            <a:lvl6pPr>
              <a:defRPr sz="1764"/>
            </a:lvl6pPr>
            <a:lvl7pPr>
              <a:defRPr sz="1764"/>
            </a:lvl7pPr>
            <a:lvl8pPr>
              <a:defRPr sz="1764"/>
            </a:lvl8pPr>
            <a:lvl9pPr>
              <a:defRPr sz="17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1487" y="3744331"/>
            <a:ext cx="5240037" cy="2304203"/>
          </a:xfrm>
        </p:spPr>
        <p:txBody>
          <a:bodyPr>
            <a:normAutofit/>
          </a:bodyPr>
          <a:lstStyle>
            <a:lvl1pPr marL="0" indent="0" algn="ctr">
              <a:buNone/>
              <a:defRPr sz="2016"/>
            </a:lvl1pPr>
            <a:lvl2pPr marL="576072" indent="0">
              <a:buNone/>
              <a:defRPr sz="1512"/>
            </a:lvl2pPr>
            <a:lvl3pPr marL="1152144" indent="0">
              <a:buNone/>
              <a:defRPr sz="1260"/>
            </a:lvl3pPr>
            <a:lvl4pPr marL="1728216" indent="0">
              <a:buNone/>
              <a:defRPr sz="1134"/>
            </a:lvl4pPr>
            <a:lvl5pPr marL="2304288" indent="0">
              <a:buNone/>
              <a:defRPr sz="1134"/>
            </a:lvl5pPr>
            <a:lvl6pPr marL="2880360" indent="0">
              <a:buNone/>
              <a:defRPr sz="1134"/>
            </a:lvl6pPr>
            <a:lvl7pPr marL="3456432" indent="0">
              <a:buNone/>
              <a:defRPr sz="1134"/>
            </a:lvl7pPr>
            <a:lvl8pPr marL="4032504" indent="0">
              <a:buNone/>
              <a:defRPr sz="1134"/>
            </a:lvl8pPr>
            <a:lvl9pPr marL="4608576" indent="0">
              <a:buNone/>
              <a:defRPr sz="11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7D56-B158-4486-8696-55F93A8B71C2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F9D75-8480-4CA8-A6AB-9A9BFDE5D1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004050"/>
      </p:ext>
    </p:extLst>
  </p:cSld>
  <p:clrMapOvr>
    <a:masterClrMapping/>
  </p:clrMapOvr>
  <p:transition spd="slow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9142" y="2208194"/>
            <a:ext cx="8011355" cy="1728153"/>
          </a:xfrm>
        </p:spPr>
        <p:txBody>
          <a:bodyPr anchor="b">
            <a:normAutofit/>
          </a:bodyPr>
          <a:lstStyle>
            <a:lvl1pPr algn="ctr">
              <a:defRPr sz="3528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213034" y="1152102"/>
            <a:ext cx="4844136" cy="5760509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16"/>
            </a:lvl1pPr>
            <a:lvl2pPr marL="576072" indent="0">
              <a:buNone/>
              <a:defRPr sz="2016"/>
            </a:lvl2pPr>
            <a:lvl3pPr marL="1152144" indent="0">
              <a:buNone/>
              <a:defRPr sz="2016"/>
            </a:lvl3pPr>
            <a:lvl4pPr marL="1728216" indent="0">
              <a:buNone/>
              <a:defRPr sz="2016"/>
            </a:lvl4pPr>
            <a:lvl5pPr marL="2304288" indent="0">
              <a:buNone/>
              <a:defRPr sz="2016"/>
            </a:lvl5pPr>
            <a:lvl6pPr marL="2880360" indent="0">
              <a:buNone/>
              <a:defRPr sz="2016"/>
            </a:lvl6pPr>
            <a:lvl7pPr marL="3456432" indent="0">
              <a:buNone/>
              <a:defRPr sz="2016"/>
            </a:lvl7pPr>
            <a:lvl8pPr marL="4032504" indent="0">
              <a:buNone/>
              <a:defRPr sz="2016"/>
            </a:lvl8pPr>
            <a:lvl9pPr marL="4608576" indent="0">
              <a:buNone/>
              <a:defRPr sz="201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89142" y="3936347"/>
            <a:ext cx="8011355" cy="2304203"/>
          </a:xfrm>
        </p:spPr>
        <p:txBody>
          <a:bodyPr>
            <a:normAutofit/>
          </a:bodyPr>
          <a:lstStyle>
            <a:lvl1pPr marL="0" indent="0" algn="ctr">
              <a:buNone/>
              <a:defRPr sz="2268"/>
            </a:lvl1pPr>
            <a:lvl2pPr marL="576072" indent="0">
              <a:buNone/>
              <a:defRPr sz="1512"/>
            </a:lvl2pPr>
            <a:lvl3pPr marL="1152144" indent="0">
              <a:buNone/>
              <a:defRPr sz="1260"/>
            </a:lvl3pPr>
            <a:lvl4pPr marL="1728216" indent="0">
              <a:buNone/>
              <a:defRPr sz="1134"/>
            </a:lvl4pPr>
            <a:lvl5pPr marL="2304288" indent="0">
              <a:buNone/>
              <a:defRPr sz="1134"/>
            </a:lvl5pPr>
            <a:lvl6pPr marL="2880360" indent="0">
              <a:buNone/>
              <a:defRPr sz="1134"/>
            </a:lvl6pPr>
            <a:lvl7pPr marL="3456432" indent="0">
              <a:buNone/>
              <a:defRPr sz="1134"/>
            </a:lvl7pPr>
            <a:lvl8pPr marL="4032504" indent="0">
              <a:buNone/>
              <a:defRPr sz="1134"/>
            </a:lvl8pPr>
            <a:lvl9pPr marL="4608576" indent="0">
              <a:buNone/>
              <a:defRPr sz="11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7D56-B158-4486-8696-55F93A8B71C2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F9D75-8480-4CA8-A6AB-9A9BFDE5D1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816649"/>
      </p:ext>
    </p:extLst>
  </p:cSld>
  <p:clrMapOvr>
    <a:masterClrMapping/>
  </p:clrMapOvr>
  <p:transition spd="slow">
    <p:wheel spokes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485" y="5963191"/>
            <a:ext cx="14791949" cy="714064"/>
          </a:xfrm>
        </p:spPr>
        <p:txBody>
          <a:bodyPr anchor="b">
            <a:normAutofit/>
          </a:bodyPr>
          <a:lstStyle>
            <a:lvl1pPr algn="ctr">
              <a:defRPr sz="3024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22785" y="1174418"/>
            <a:ext cx="12145050" cy="398772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16"/>
            </a:lvl1pPr>
            <a:lvl2pPr marL="576072" indent="0">
              <a:buNone/>
              <a:defRPr sz="2016"/>
            </a:lvl2pPr>
            <a:lvl3pPr marL="1152144" indent="0">
              <a:buNone/>
              <a:defRPr sz="2016"/>
            </a:lvl3pPr>
            <a:lvl4pPr marL="1728216" indent="0">
              <a:buNone/>
              <a:defRPr sz="2016"/>
            </a:lvl4pPr>
            <a:lvl5pPr marL="2304288" indent="0">
              <a:buNone/>
              <a:defRPr sz="2016"/>
            </a:lvl5pPr>
            <a:lvl6pPr marL="2880360" indent="0">
              <a:buNone/>
              <a:defRPr sz="2016"/>
            </a:lvl6pPr>
            <a:lvl7pPr marL="3456432" indent="0">
              <a:buNone/>
              <a:defRPr sz="2016"/>
            </a:lvl7pPr>
            <a:lvl8pPr marL="4032504" indent="0">
              <a:buNone/>
              <a:defRPr sz="2016"/>
            </a:lvl8pPr>
            <a:lvl9pPr marL="4608576" indent="0">
              <a:buNone/>
              <a:defRPr sz="201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1485" y="6677255"/>
            <a:ext cx="14791949" cy="622054"/>
          </a:xfrm>
        </p:spPr>
        <p:txBody>
          <a:bodyPr>
            <a:normAutofit/>
          </a:bodyPr>
          <a:lstStyle>
            <a:lvl1pPr marL="0" indent="0" algn="ctr">
              <a:buNone/>
              <a:defRPr sz="1764"/>
            </a:lvl1pPr>
            <a:lvl2pPr marL="576072" indent="0">
              <a:buNone/>
              <a:defRPr sz="1512"/>
            </a:lvl2pPr>
            <a:lvl3pPr marL="1152144" indent="0">
              <a:buNone/>
              <a:defRPr sz="1260"/>
            </a:lvl3pPr>
            <a:lvl4pPr marL="1728216" indent="0">
              <a:buNone/>
              <a:defRPr sz="1134"/>
            </a:lvl4pPr>
            <a:lvl5pPr marL="2304288" indent="0">
              <a:buNone/>
              <a:defRPr sz="1134"/>
            </a:lvl5pPr>
            <a:lvl6pPr marL="2880360" indent="0">
              <a:buNone/>
              <a:defRPr sz="1134"/>
            </a:lvl6pPr>
            <a:lvl7pPr marL="3456432" indent="0">
              <a:buNone/>
              <a:defRPr sz="1134"/>
            </a:lvl7pPr>
            <a:lvl8pPr marL="4032504" indent="0">
              <a:buNone/>
              <a:defRPr sz="1134"/>
            </a:lvl8pPr>
            <a:lvl9pPr marL="4608576" indent="0">
              <a:buNone/>
              <a:defRPr sz="11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7D56-B158-4486-8696-55F93A8B71C2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F9D75-8480-4CA8-A6AB-9A9BFDE5D1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583871"/>
      </p:ext>
    </p:extLst>
  </p:cSld>
  <p:clrMapOvr>
    <a:masterClrMapping/>
  </p:clrMapOvr>
  <p:transition spd="slow">
    <p:wheel spokes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487" y="864076"/>
            <a:ext cx="14791949" cy="3840339"/>
          </a:xfrm>
        </p:spPr>
        <p:txBody>
          <a:bodyPr anchor="ctr">
            <a:normAutofit/>
          </a:bodyPr>
          <a:lstStyle>
            <a:lvl1pPr algn="ctr">
              <a:defRPr sz="4032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1487" y="5472483"/>
            <a:ext cx="14791952" cy="182416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20">
                <a:solidFill>
                  <a:schemeClr val="tx1"/>
                </a:solidFill>
              </a:defRPr>
            </a:lvl1pPr>
            <a:lvl2pPr marL="576072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2pPr>
            <a:lvl3pPr marL="1152144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3pPr>
            <a:lvl4pPr marL="172821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30428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88036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45643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4032504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60857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7D56-B158-4486-8696-55F93A8B71C2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F9D75-8480-4CA8-A6AB-9A9BFDE5D1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62852"/>
      </p:ext>
    </p:extLst>
  </p:cSld>
  <p:clrMapOvr>
    <a:masterClrMapping/>
  </p:clrMapOvr>
  <p:transition spd="slow">
    <p:wheel spokes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360243" y="1087369"/>
            <a:ext cx="900033" cy="736791"/>
          </a:xfrm>
          <a:prstGeom prst="rect">
            <a:avLst/>
          </a:prstGeom>
        </p:spPr>
        <p:txBody>
          <a:bodyPr vert="horz" lIns="115210" tIns="57605" rIns="115210" bIns="57605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008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83405" y="3552312"/>
            <a:ext cx="900033" cy="736791"/>
          </a:xfrm>
          <a:prstGeom prst="rect">
            <a:avLst/>
          </a:prstGeom>
        </p:spPr>
        <p:txBody>
          <a:bodyPr vert="horz" lIns="115210" tIns="57605" rIns="115210" bIns="57605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008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0276" y="864077"/>
            <a:ext cx="13273144" cy="3456304"/>
          </a:xfrm>
        </p:spPr>
        <p:txBody>
          <a:bodyPr anchor="ctr">
            <a:normAutofit/>
          </a:bodyPr>
          <a:lstStyle>
            <a:lvl1pPr algn="ctr">
              <a:defRPr sz="4032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597787" y="4320380"/>
            <a:ext cx="12598124" cy="480042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268"/>
            </a:lvl1pPr>
            <a:lvl2pPr marL="576072" indent="0">
              <a:buFontTx/>
              <a:buNone/>
              <a:defRPr/>
            </a:lvl2pPr>
            <a:lvl3pPr marL="1152144" indent="0">
              <a:buFontTx/>
              <a:buNone/>
              <a:defRPr/>
            </a:lvl3pPr>
            <a:lvl4pPr marL="1728216" indent="0">
              <a:buFontTx/>
              <a:buNone/>
              <a:defRPr/>
            </a:lvl4pPr>
            <a:lvl5pPr marL="2304288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1485" y="5472483"/>
            <a:ext cx="14791949" cy="182416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20">
                <a:solidFill>
                  <a:schemeClr val="tx1"/>
                </a:solidFill>
              </a:defRPr>
            </a:lvl1pPr>
            <a:lvl2pPr marL="576072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2pPr>
            <a:lvl3pPr marL="1152144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3pPr>
            <a:lvl4pPr marL="172821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30428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88036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45643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4032504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60857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7D56-B158-4486-8696-55F93A8B71C2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F9D75-8480-4CA8-A6AB-9A9BFDE5D1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091232"/>
      </p:ext>
    </p:extLst>
  </p:cSld>
  <p:clrMapOvr>
    <a:masterClrMapping/>
  </p:clrMapOvr>
  <p:transition spd="slow">
    <p:wheel spokes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488" y="4168659"/>
            <a:ext cx="14791946" cy="1850620"/>
          </a:xfrm>
        </p:spPr>
        <p:txBody>
          <a:bodyPr anchor="b">
            <a:normAutofit/>
          </a:bodyPr>
          <a:lstStyle>
            <a:lvl1pPr algn="r">
              <a:defRPr sz="4032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1486" y="6019279"/>
            <a:ext cx="14791947" cy="1084064"/>
          </a:xfrm>
        </p:spPr>
        <p:txBody>
          <a:bodyPr anchor="t">
            <a:normAutofit/>
          </a:bodyPr>
          <a:lstStyle>
            <a:lvl1pPr marL="0" indent="0" algn="r">
              <a:buNone/>
              <a:defRPr sz="2520">
                <a:solidFill>
                  <a:schemeClr val="tx1"/>
                </a:solidFill>
              </a:defRPr>
            </a:lvl1pPr>
            <a:lvl2pPr marL="576072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2pPr>
            <a:lvl3pPr marL="1152144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3pPr>
            <a:lvl4pPr marL="172821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30428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88036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45643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4032504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60857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7D56-B158-4486-8696-55F93A8B71C2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F9D75-8480-4CA8-A6AB-9A9BFDE5D1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291625"/>
      </p:ext>
    </p:extLst>
  </p:cSld>
  <p:clrMapOvr>
    <a:masterClrMapping/>
  </p:clrMapOvr>
  <p:transition spd="slow">
    <p:wheel spokes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360243" y="1087369"/>
            <a:ext cx="900033" cy="736791"/>
          </a:xfrm>
          <a:prstGeom prst="rect">
            <a:avLst/>
          </a:prstGeom>
        </p:spPr>
        <p:txBody>
          <a:bodyPr vert="horz" lIns="115210" tIns="57605" rIns="115210" bIns="57605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008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83405" y="3552312"/>
            <a:ext cx="900033" cy="736791"/>
          </a:xfrm>
          <a:prstGeom prst="rect">
            <a:avLst/>
          </a:prstGeom>
        </p:spPr>
        <p:txBody>
          <a:bodyPr vert="horz" lIns="115210" tIns="57605" rIns="115210" bIns="57605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008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0276" y="864077"/>
            <a:ext cx="13273144" cy="3456304"/>
          </a:xfrm>
        </p:spPr>
        <p:txBody>
          <a:bodyPr anchor="ctr">
            <a:normAutofit/>
          </a:bodyPr>
          <a:lstStyle>
            <a:lvl1pPr algn="ctr">
              <a:defRPr sz="4032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91488" y="4896432"/>
            <a:ext cx="14791947" cy="1120099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3024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1486" y="6016531"/>
            <a:ext cx="14791947" cy="1280113"/>
          </a:xfrm>
        </p:spPr>
        <p:txBody>
          <a:bodyPr anchor="t">
            <a:normAutofit/>
          </a:bodyPr>
          <a:lstStyle>
            <a:lvl1pPr marL="0" indent="0" algn="r">
              <a:buNone/>
              <a:defRPr sz="2268">
                <a:solidFill>
                  <a:schemeClr val="tx1"/>
                </a:solidFill>
              </a:defRPr>
            </a:lvl1pPr>
            <a:lvl2pPr marL="576072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2pPr>
            <a:lvl3pPr marL="1152144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3pPr>
            <a:lvl4pPr marL="172821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30428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88036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45643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4032504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60857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7D56-B158-4486-8696-55F93A8B71C2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F9D75-8480-4CA8-A6AB-9A9BFDE5D1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042782"/>
      </p:ext>
    </p:extLst>
  </p:cSld>
  <p:clrMapOvr>
    <a:masterClrMapping/>
  </p:clrMapOvr>
  <p:transition spd="slow">
    <p:wheel spokes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488" y="864077"/>
            <a:ext cx="14791950" cy="343630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91487" y="4416390"/>
            <a:ext cx="14791952" cy="10560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528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1485" y="5472483"/>
            <a:ext cx="14791952" cy="1824161"/>
          </a:xfrm>
        </p:spPr>
        <p:txBody>
          <a:bodyPr anchor="t">
            <a:normAutofit/>
          </a:bodyPr>
          <a:lstStyle>
            <a:lvl1pPr marL="0" indent="0" algn="l">
              <a:buNone/>
              <a:defRPr sz="2268">
                <a:solidFill>
                  <a:schemeClr val="tx1"/>
                </a:solidFill>
              </a:defRPr>
            </a:lvl1pPr>
            <a:lvl2pPr marL="576072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2pPr>
            <a:lvl3pPr marL="1152144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3pPr>
            <a:lvl4pPr marL="172821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30428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88036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45643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4032504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60857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7D56-B158-4486-8696-55F93A8B71C2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F9D75-8480-4CA8-A6AB-9A9BFDE5D1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725592"/>
      </p:ext>
    </p:extLst>
  </p:cSld>
  <p:clrMapOvr>
    <a:masterClrMapping/>
  </p:clrMapOvr>
  <p:transition spd="slow">
    <p:wheel spokes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7D56-B158-4486-8696-55F93A8B71C2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F9D75-8480-4CA8-A6AB-9A9BFDE5D1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878671"/>
      </p:ext>
    </p:extLst>
  </p:cSld>
  <p:clrMapOvr>
    <a:masterClrMapping/>
  </p:clrMapOvr>
  <p:transition spd="slow">
    <p:wheel spokes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69607" y="864076"/>
            <a:ext cx="2613830" cy="64325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1486" y="864076"/>
            <a:ext cx="11840606" cy="6432568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7D56-B158-4486-8696-55F93A8B71C2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F9D75-8480-4CA8-A6AB-9A9BFDE5D1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448898"/>
      </p:ext>
    </p:extLst>
  </p:cSld>
  <p:clrMapOvr>
    <a:masterClrMapping/>
  </p:clrMapOvr>
  <p:transition spd="slow">
    <p:wheel spokes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22664" y="1"/>
            <a:ext cx="3597790" cy="8640764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1485" y="864077"/>
            <a:ext cx="14791952" cy="220819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1484" y="3360296"/>
            <a:ext cx="14791952" cy="3936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369608" y="7412655"/>
            <a:ext cx="1687562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A0E7D56-B158-4486-8696-55F93A8B71C2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97797" y="7412655"/>
            <a:ext cx="10459308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69675" y="7412655"/>
            <a:ext cx="813761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86F9D75-8480-4CA8-A6AB-9A9BFDE5D1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906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ransition spd="slow">
    <p:wheel spokes="1"/>
  </p:transition>
  <p:txStyles>
    <p:titleStyle>
      <a:lvl1pPr algn="ctr" defTabSz="576072" rtl="0" eaLnBrk="1" latinLnBrk="0" hangingPunct="1">
        <a:spcBef>
          <a:spcPct val="0"/>
        </a:spcBef>
        <a:buNone/>
        <a:defRPr sz="504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indent="-360045" algn="l" defTabSz="576072" rtl="0" eaLnBrk="1" latinLnBrk="0" hangingPunct="1">
        <a:spcBef>
          <a:spcPct val="20000"/>
        </a:spcBef>
        <a:spcAft>
          <a:spcPts val="756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02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936117" indent="-360045" algn="l" defTabSz="576072" rtl="0" eaLnBrk="1" latinLnBrk="0" hangingPunct="1">
        <a:spcBef>
          <a:spcPct val="20000"/>
        </a:spcBef>
        <a:spcAft>
          <a:spcPts val="756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52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512189" indent="-360045" algn="l" defTabSz="576072" rtl="0" eaLnBrk="1" latinLnBrk="0" hangingPunct="1">
        <a:spcBef>
          <a:spcPct val="20000"/>
        </a:spcBef>
        <a:spcAft>
          <a:spcPts val="756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26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44243" indent="-216027" algn="l" defTabSz="576072" rtl="0" eaLnBrk="1" latinLnBrk="0" hangingPunct="1">
        <a:spcBef>
          <a:spcPct val="20000"/>
        </a:spcBef>
        <a:spcAft>
          <a:spcPts val="756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16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520315" indent="-216027" algn="l" defTabSz="576072" rtl="0" eaLnBrk="1" latinLnBrk="0" hangingPunct="1">
        <a:spcBef>
          <a:spcPct val="20000"/>
        </a:spcBef>
        <a:spcAft>
          <a:spcPts val="756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76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168396" indent="-288036" algn="l" defTabSz="576072" rtl="0" eaLnBrk="1" latinLnBrk="0" hangingPunct="1">
        <a:spcBef>
          <a:spcPct val="20000"/>
        </a:spcBef>
        <a:spcAft>
          <a:spcPts val="756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76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744468" indent="-288036" algn="l" defTabSz="576072" rtl="0" eaLnBrk="1" latinLnBrk="0" hangingPunct="1">
        <a:spcBef>
          <a:spcPct val="20000"/>
        </a:spcBef>
        <a:spcAft>
          <a:spcPts val="756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76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320540" indent="-288036" algn="l" defTabSz="576072" rtl="0" eaLnBrk="1" latinLnBrk="0" hangingPunct="1">
        <a:spcBef>
          <a:spcPct val="20000"/>
        </a:spcBef>
        <a:spcAft>
          <a:spcPts val="756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76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896612" indent="-288036" algn="l" defTabSz="576072" rtl="0" eaLnBrk="1" latinLnBrk="0" hangingPunct="1">
        <a:spcBef>
          <a:spcPct val="20000"/>
        </a:spcBef>
        <a:spcAft>
          <a:spcPts val="756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76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6072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algn="l" defTabSz="576072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152144" algn="l" defTabSz="576072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728216" algn="l" defTabSz="576072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4pPr>
      <a:lvl5pPr marL="2304288" algn="l" defTabSz="576072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5pPr>
      <a:lvl6pPr marL="2880360" algn="l" defTabSz="576072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3456432" algn="l" defTabSz="576072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4032504" algn="l" defTabSz="576072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8pPr>
      <a:lvl9pPr marL="4608576" algn="l" defTabSz="576072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1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1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5.png"/><Relationship Id="rId10" Type="http://schemas.openxmlformats.org/officeDocument/2006/relationships/image" Target="../media/image12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20E3F6-7702-9F41-F874-F622FDF813E3}"/>
              </a:ext>
            </a:extLst>
          </p:cNvPr>
          <p:cNvSpPr txBox="1"/>
          <p:nvPr/>
        </p:nvSpPr>
        <p:spPr>
          <a:xfrm>
            <a:off x="2103074" y="2205238"/>
            <a:ext cx="1508759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/>
              <a:t>Zudio Retail Sales &amp; Store Performance Analysis </a:t>
            </a:r>
          </a:p>
          <a:p>
            <a:pPr algn="ctr"/>
            <a:endParaRPr lang="en-US" sz="6000" b="1" dirty="0"/>
          </a:p>
          <a:p>
            <a:pPr algn="ctr"/>
            <a:r>
              <a:rPr 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Used-</a:t>
            </a:r>
          </a:p>
          <a:p>
            <a:pPr algn="ctr"/>
            <a:r>
              <a:rPr 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 Workbench </a:t>
            </a:r>
          </a:p>
          <a:p>
            <a:endParaRPr lang="en-IN" sz="5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94EB85-8FDF-DDB1-13F6-FAFD41A0F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769" y="325563"/>
            <a:ext cx="5956663" cy="193899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DDFE73E-35C5-99E9-0DA7-657E95784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730" y="6701771"/>
            <a:ext cx="15775597" cy="1938992"/>
          </a:xfrm>
        </p:spPr>
        <p:txBody>
          <a:bodyPr/>
          <a:lstStyle/>
          <a:p>
            <a:pPr algn="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OISHIKA BOSE</a:t>
            </a:r>
          </a:p>
        </p:txBody>
      </p:sp>
    </p:spTree>
    <p:extLst>
      <p:ext uri="{BB962C8B-B14F-4D97-AF65-F5344CB8AC3E}">
        <p14:creationId xmlns:p14="http://schemas.microsoft.com/office/powerpoint/2010/main" val="1750915438"/>
      </p:ext>
    </p:extLst>
  </p:cSld>
  <p:clrMapOvr>
    <a:masterClrMapping/>
  </p:clrMapOvr>
  <p:transition spd="slow">
    <p:wheel spokes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38ACB3-3EA5-9754-1442-CA71EEA3DE1E}"/>
              </a:ext>
            </a:extLst>
          </p:cNvPr>
          <p:cNvSpPr txBox="1"/>
          <p:nvPr/>
        </p:nvSpPr>
        <p:spPr>
          <a:xfrm>
            <a:off x="2191485" y="509449"/>
            <a:ext cx="7227219" cy="52322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5C36A3-D2AD-97F7-5421-46CC6CC93E31}"/>
              </a:ext>
            </a:extLst>
          </p:cNvPr>
          <p:cNvSpPr txBox="1"/>
          <p:nvPr/>
        </p:nvSpPr>
        <p:spPr>
          <a:xfrm>
            <a:off x="9756216" y="509451"/>
            <a:ext cx="7227219" cy="57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7692FB-43F9-EA27-C35B-A35EF02FF26C}"/>
              </a:ext>
            </a:extLst>
          </p:cNvPr>
          <p:cNvSpPr txBox="1"/>
          <p:nvPr/>
        </p:nvSpPr>
        <p:spPr>
          <a:xfrm>
            <a:off x="9756216" y="509450"/>
            <a:ext cx="7227219" cy="57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5B586A-6993-66EF-1AF5-663B48B8498A}"/>
              </a:ext>
            </a:extLst>
          </p:cNvPr>
          <p:cNvSpPr txBox="1"/>
          <p:nvPr/>
        </p:nvSpPr>
        <p:spPr>
          <a:xfrm>
            <a:off x="9756214" y="509450"/>
            <a:ext cx="7227219" cy="57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0FBA9E-5031-D4BF-398C-1EE46662FCE7}"/>
              </a:ext>
            </a:extLst>
          </p:cNvPr>
          <p:cNvSpPr txBox="1"/>
          <p:nvPr/>
        </p:nvSpPr>
        <p:spPr>
          <a:xfrm>
            <a:off x="9756215" y="509450"/>
            <a:ext cx="7227219" cy="52322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OBJECTIVE</a:t>
            </a:r>
            <a:r>
              <a:rPr lang="en-IN" sz="2800" dirty="0"/>
              <a:t> </a:t>
            </a:r>
            <a:r>
              <a:rPr lang="en-IN" sz="2800" b="1" dirty="0"/>
              <a:t>OF</a:t>
            </a:r>
            <a:r>
              <a:rPr lang="en-IN" sz="2800" dirty="0"/>
              <a:t> </a:t>
            </a:r>
            <a:r>
              <a:rPr lang="en-IN" sz="2800" b="1" dirty="0"/>
              <a:t>THE</a:t>
            </a:r>
            <a:r>
              <a:rPr lang="en-IN" sz="2800" dirty="0"/>
              <a:t> </a:t>
            </a:r>
            <a:r>
              <a:rPr lang="en-IN" sz="2800" b="1" dirty="0"/>
              <a:t>ANALYSIS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1BF42AF-6198-668E-6D21-F800DE437F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91482" y="1084215"/>
            <a:ext cx="7227217" cy="7354391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/>
          </a:bodyPr>
          <a:lstStyle/>
          <a:p>
            <a:pPr>
              <a:buClr>
                <a:schemeClr val="bg2">
                  <a:lumMod val="10000"/>
                </a:schemeClr>
              </a:buCl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Currently, business data exists in a raw, transactional format, making it difficult to derive meaningful insights such as: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stores and regions contribute the most to revenue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customer purchasing behavior varies across locations.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product categories and clothing types drive sales, and which underperform.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sales trends change over time (monthly, seasonally).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Whether store size, store type (owned vs rented), and staffing impact profitability 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a structured analytical approach, decision-making related to inventory planning, store expansion, pricing strategy, and marketing focus becomes inefficient and reactive.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F6F7027-BB55-6E67-CDC1-F6F92703A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56216" y="1084216"/>
            <a:ext cx="7227219" cy="7354390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bg2">
                  <a:lumMod val="10000"/>
                </a:schemeClr>
              </a:buCl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objective of this project is to use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SQL-based data modeling and analysis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to:</a:t>
            </a:r>
          </a:p>
          <a:p>
            <a:pPr>
              <a:lnSpc>
                <a:spcPct val="150000"/>
              </a:lnSpc>
              <a:buClr>
                <a:schemeClr val="bg2">
                  <a:lumMod val="10000"/>
                </a:schemeClr>
              </a:buCl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 raw sales data into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clean, normalized tables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Clr>
                <a:schemeClr val="bg2">
                  <a:lumMod val="10000"/>
                </a:schemeClr>
              </a:buCl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performance, customer behavior, product demand, and store efficiency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Clr>
                <a:schemeClr val="bg2">
                  <a:lumMod val="10000"/>
                </a:schemeClr>
              </a:buCl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high-performing and low-performing stores, products, and customers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Clr>
                <a:schemeClr val="bg2">
                  <a:lumMod val="10000"/>
                </a:schemeClr>
              </a:buCl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insights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support strategic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1259118"/>
      </p:ext>
    </p:extLst>
  </p:cSld>
  <p:clrMapOvr>
    <a:masterClrMapping/>
  </p:clrMapOvr>
  <p:transition spd="slow" advClick="0" advTm="300">
    <p:wheel spokes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29362-3F12-C126-3F38-078A9A6F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1487" y="130562"/>
            <a:ext cx="14721840" cy="701951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DESCRIPTION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4844DD-E675-C9DC-F242-2C963A1CA3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445" y="6587775"/>
            <a:ext cx="8911988" cy="192242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FA7D7B-6F4C-3C2B-F566-4D8A2072B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712" y="1302898"/>
            <a:ext cx="8289993" cy="4389120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Modeling &amp; Preparation</a:t>
            </a:r>
          </a:p>
          <a:p>
            <a:pPr algn="l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original Zudio dataset was first imported as a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master table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preserve the source data.</a:t>
            </a:r>
          </a:p>
          <a:p>
            <a:pPr algn="l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master table was then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normalized into smaller relational tables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(Stores, Products, Customers, Orders, and Order Details) to reduce redundancy.</a:t>
            </a:r>
          </a:p>
          <a:p>
            <a:pPr algn="l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structure enabled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 querying, better data integrity, and accurate business analysis</a:t>
            </a:r>
          </a:p>
          <a:p>
            <a:pPr algn="l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rows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7899,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columns-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</a:p>
          <a:p>
            <a:pPr algn="l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Source- Kaggle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8B3F63-23A2-ACA6-4F27-7598C67EF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947" y="6587775"/>
            <a:ext cx="7419583" cy="20532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C5E211-788F-F93B-5E5B-F6EAA6BDECDA}"/>
              </a:ext>
            </a:extLst>
          </p:cNvPr>
          <p:cNvSpPr txBox="1"/>
          <p:nvPr/>
        </p:nvSpPr>
        <p:spPr>
          <a:xfrm>
            <a:off x="944713" y="5847509"/>
            <a:ext cx="8289994" cy="58477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Main Dataset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DF9E42F-DF9B-4127-A8B1-78B7899EB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412537"/>
              </p:ext>
            </p:extLst>
          </p:nvPr>
        </p:nvGraphicFramePr>
        <p:xfrm>
          <a:off x="9762947" y="1302898"/>
          <a:ext cx="7419584" cy="437435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709792">
                  <a:extLst>
                    <a:ext uri="{9D8B030D-6E8A-4147-A177-3AD203B41FA5}">
                      <a16:colId xmlns:a16="http://schemas.microsoft.com/office/drawing/2014/main" val="4154820339"/>
                    </a:ext>
                  </a:extLst>
                </a:gridCol>
                <a:gridCol w="3709792">
                  <a:extLst>
                    <a:ext uri="{9D8B030D-6E8A-4147-A177-3AD203B41FA5}">
                      <a16:colId xmlns:a16="http://schemas.microsoft.com/office/drawing/2014/main" val="3132247516"/>
                    </a:ext>
                  </a:extLst>
                </a:gridCol>
              </a:tblGrid>
              <a:tr h="4699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Columns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773030"/>
                  </a:ext>
                </a:extLst>
              </a:tr>
              <a:tr h="1193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Store Info</a:t>
                      </a:r>
                      <a:endParaRPr lang="en-IN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Store, Store Number, Store Type, Store Open Date, Selling Area Size, Staff 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540899"/>
                  </a:ext>
                </a:extLst>
              </a:tr>
              <a:tr h="469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Location</a:t>
                      </a:r>
                      <a:endParaRPr lang="en-IN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Country, State, City, Postal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722823"/>
                  </a:ext>
                </a:extLst>
              </a:tr>
              <a:tr h="831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 Info</a:t>
                      </a:r>
                      <a:endParaRPr lang="en-IN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Category, Clothing Type, Product ID,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0351733"/>
                  </a:ext>
                </a:extLst>
              </a:tr>
              <a:tr h="469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Info</a:t>
                      </a:r>
                      <a:endParaRPr lang="en-IN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ID, Customer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9894499"/>
                  </a:ext>
                </a:extLst>
              </a:tr>
              <a:tr h="469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Order &amp; Time</a:t>
                      </a:r>
                      <a:endParaRPr lang="en-IN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Order ID, Order Date, Month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280562"/>
                  </a:ext>
                </a:extLst>
              </a:tr>
              <a:tr h="469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Sales Metrics</a:t>
                      </a:r>
                      <a:endParaRPr lang="en-IN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Quantity, Sales Profit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70653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71A943B-EBA5-A7C7-33B4-1C74FF64F0B9}"/>
              </a:ext>
            </a:extLst>
          </p:cNvPr>
          <p:cNvSpPr txBox="1"/>
          <p:nvPr/>
        </p:nvSpPr>
        <p:spPr>
          <a:xfrm>
            <a:off x="9762947" y="5840128"/>
            <a:ext cx="7419584" cy="584775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Normalized Tables From The Main Dataset</a:t>
            </a:r>
          </a:p>
        </p:txBody>
      </p:sp>
    </p:spTree>
    <p:extLst>
      <p:ext uri="{BB962C8B-B14F-4D97-AF65-F5344CB8AC3E}">
        <p14:creationId xmlns:p14="http://schemas.microsoft.com/office/powerpoint/2010/main" val="1583024491"/>
      </p:ext>
    </p:extLst>
  </p:cSld>
  <p:clrMapOvr>
    <a:masterClrMapping/>
  </p:clrMapOvr>
  <p:transition spd="slow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EB4DFC-2F90-DDD8-B671-916AA78AD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086" y="1467193"/>
            <a:ext cx="4810442" cy="10849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3F2292-5B9D-4BD2-2242-9D967E896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831" y="1467193"/>
            <a:ext cx="2487312" cy="10849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ED855A-AD7F-E091-A3ED-4C77AC16C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821" y="4424988"/>
            <a:ext cx="4810442" cy="10753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604424-8BA9-0FE5-FCB8-9ABA75E85D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9831" y="4445627"/>
            <a:ext cx="2487312" cy="10576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5D81C5-1734-483A-E397-B5D8B42FFD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7291" y="5837864"/>
            <a:ext cx="4832972" cy="15554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23C1632-2753-147C-D000-4473EEABB3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9831" y="5837864"/>
            <a:ext cx="2487312" cy="15554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8671F18-9091-D0CE-E9B2-4C038F6CCD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3455" y="1857329"/>
            <a:ext cx="566977" cy="2011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978C133-B0AD-79AD-F164-ED2B4A4512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3455" y="3482242"/>
            <a:ext cx="566977" cy="2011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7E6D61E-71D2-E404-A8CB-0B5B3836F3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3456" y="4873844"/>
            <a:ext cx="566977" cy="2011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CB10716-C969-4D63-C630-652F9597F4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4690" y="6515007"/>
            <a:ext cx="566977" cy="201185"/>
          </a:xfrm>
          <a:prstGeom prst="rect">
            <a:avLst/>
          </a:prstGeom>
        </p:spPr>
      </p:pic>
      <p:sp>
        <p:nvSpPr>
          <p:cNvPr id="22" name="Title 21">
            <a:extLst>
              <a:ext uri="{FF2B5EF4-FFF2-40B4-BE49-F238E27FC236}">
                <a16:creationId xmlns:a16="http://schemas.microsoft.com/office/drawing/2014/main" id="{735BF690-41B9-675C-2AF4-323CCBA8F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354" y="195497"/>
            <a:ext cx="15494925" cy="1084989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METRICS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438D0BB3-7B0E-BB8F-8D09-F0CC28FF0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715470"/>
              </p:ext>
            </p:extLst>
          </p:nvPr>
        </p:nvGraphicFramePr>
        <p:xfrm>
          <a:off x="10646163" y="1183302"/>
          <a:ext cx="6949506" cy="682057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474753">
                  <a:extLst>
                    <a:ext uri="{9D8B030D-6E8A-4147-A177-3AD203B41FA5}">
                      <a16:colId xmlns:a16="http://schemas.microsoft.com/office/drawing/2014/main" val="1233819087"/>
                    </a:ext>
                  </a:extLst>
                </a:gridCol>
                <a:gridCol w="3474753">
                  <a:extLst>
                    <a:ext uri="{9D8B030D-6E8A-4147-A177-3AD203B41FA5}">
                      <a16:colId xmlns:a16="http://schemas.microsoft.com/office/drawing/2014/main" val="706367020"/>
                    </a:ext>
                  </a:extLst>
                </a:gridCol>
              </a:tblGrid>
              <a:tr h="10816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Questions</a:t>
                      </a:r>
                      <a:endParaRPr lang="en-IN" sz="23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 from Output</a:t>
                      </a:r>
                      <a:endParaRPr lang="en-IN" sz="23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895030"/>
                  </a:ext>
                </a:extLst>
              </a:tr>
              <a:tr h="13013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is the total quantity of items sold?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total of </a:t>
                      </a:r>
                      <a:r>
                        <a:rPr lang="en-US" sz="23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35,699 units</a:t>
                      </a:r>
                      <a:r>
                        <a:rPr lang="en-US" sz="23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were sold, indicating overall product demand across all orders.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8981502"/>
                  </a:ext>
                </a:extLst>
              </a:tr>
              <a:tr h="13013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 many total orders were placed?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business processed </a:t>
                      </a:r>
                      <a:r>
                        <a:rPr lang="en-US" sz="23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7,899 orders</a:t>
                      </a:r>
                      <a:r>
                        <a:rPr lang="en-US" sz="23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reflecting the transaction volume during the period.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1269546"/>
                  </a:ext>
                </a:extLst>
              </a:tr>
              <a:tr h="12583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is the total profit generated?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total profit amounts to </a:t>
                      </a:r>
                      <a:r>
                        <a:rPr lang="en-US" sz="23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25,045,133.20</a:t>
                      </a:r>
                      <a:r>
                        <a:rPr lang="en-US" sz="23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showing strong overall profitability.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697972"/>
                  </a:ext>
                </a:extLst>
              </a:tr>
              <a:tr h="13013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is the total sales value?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sales reached </a:t>
                      </a:r>
                      <a:r>
                        <a:rPr lang="en-US" sz="23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686,445,368</a:t>
                      </a:r>
                      <a:r>
                        <a:rPr lang="en-US" sz="23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highlighting high revenue generation from product sales.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093817"/>
                  </a:ext>
                </a:extLst>
              </a:tr>
            </a:tbl>
          </a:graphicData>
        </a:graphic>
      </p:graphicFrame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EEE4B642-3977-6217-2495-50BC0CF21E68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9797143" y="2009688"/>
            <a:ext cx="914400" cy="914400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92F938E1-3D5C-D423-4FA8-E672AEE992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5159" y="3351999"/>
            <a:ext cx="1072989" cy="107298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1AA1FEB-17C7-496E-4AD8-5D7CD78560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4781" y="4866169"/>
            <a:ext cx="1072989" cy="107298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B15171B-71CE-8C57-1C60-E8B5374E95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7848" y="6320347"/>
            <a:ext cx="1072989" cy="10729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0DB213-8E36-AAFD-B115-FECC38C444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9820" y="2808435"/>
            <a:ext cx="4821707" cy="12353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9AF5CB-2DC0-7832-6367-4CA42F0333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2909" y="2802899"/>
            <a:ext cx="2514234" cy="12353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66471233"/>
      </p:ext>
    </p:extLst>
  </p:cSld>
  <p:clrMapOvr>
    <a:masterClrMapping/>
  </p:clrMapOvr>
  <p:transition spd="slow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F03BF4-4E53-EBAA-BF1D-719D12581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664" y="1115184"/>
            <a:ext cx="2975309" cy="22906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A9632B-9E31-4E61-67D0-994ACD5F9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959" y="6567943"/>
            <a:ext cx="4746986" cy="2072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7204FB-52B2-E311-9AAF-09F4D4273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338" y="6567943"/>
            <a:ext cx="2975308" cy="2072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483567-BFBB-0640-C263-931CB907D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959" y="3586035"/>
            <a:ext cx="4746985" cy="28017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FD5BDF-0A42-E02C-6BAD-BACD1D11D3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665" y="3586035"/>
            <a:ext cx="2975309" cy="28017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E664DF0-3B70-8FB6-68E7-0B4BCF99EF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958" y="1115184"/>
            <a:ext cx="4746985" cy="22906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E4CA24C-4CE1-8F63-39B3-0D6AE6145C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3856" y="2059321"/>
            <a:ext cx="566977" cy="2011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23175B0-EDCC-EC48-0E3B-7EB9EE4B2D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3857" y="4886292"/>
            <a:ext cx="566977" cy="2011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1D38BBB-55DF-EFF3-8166-C38A3EE739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9389" y="7403168"/>
            <a:ext cx="566977" cy="201185"/>
          </a:xfrm>
          <a:prstGeom prst="rect">
            <a:avLst/>
          </a:prstGeom>
        </p:spPr>
      </p:pic>
      <p:sp>
        <p:nvSpPr>
          <p:cNvPr id="22" name="Title 21">
            <a:extLst>
              <a:ext uri="{FF2B5EF4-FFF2-40B4-BE49-F238E27FC236}">
                <a16:creationId xmlns:a16="http://schemas.microsoft.com/office/drawing/2014/main" id="{41670E1F-AFAB-F473-5F45-470EECA9D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411" y="159528"/>
            <a:ext cx="15579292" cy="66798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ANALYSIS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BFFDF39-535B-B56C-8EA0-8F8CCF898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384803"/>
              </p:ext>
            </p:extLst>
          </p:nvPr>
        </p:nvGraphicFramePr>
        <p:xfrm>
          <a:off x="10829108" y="927463"/>
          <a:ext cx="6858002" cy="755377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429001">
                  <a:extLst>
                    <a:ext uri="{9D8B030D-6E8A-4147-A177-3AD203B41FA5}">
                      <a16:colId xmlns:a16="http://schemas.microsoft.com/office/drawing/2014/main" val="1325471763"/>
                    </a:ext>
                  </a:extLst>
                </a:gridCol>
                <a:gridCol w="3429001">
                  <a:extLst>
                    <a:ext uri="{9D8B030D-6E8A-4147-A177-3AD203B41FA5}">
                      <a16:colId xmlns:a16="http://schemas.microsoft.com/office/drawing/2014/main" val="1643932586"/>
                    </a:ext>
                  </a:extLst>
                </a:gridCol>
              </a:tblGrid>
              <a:tr h="790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Questions</a:t>
                      </a:r>
                      <a:endParaRPr lang="en-IN" sz="2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374" marR="71374" marT="35687" marB="3568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Insights</a:t>
                      </a:r>
                      <a:endParaRPr lang="en-IN" sz="2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1374" marR="71374" marT="35687" marB="35687" anchor="ctr"/>
                </a:tc>
                <a:extLst>
                  <a:ext uri="{0D108BD9-81ED-4DB2-BD59-A6C34878D82A}">
                    <a16:rowId xmlns:a16="http://schemas.microsoft.com/office/drawing/2014/main" val="1925389774"/>
                  </a:ext>
                </a:extLst>
              </a:tr>
              <a:tr h="26726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 does sales profit vary month-wise?</a:t>
                      </a:r>
                    </a:p>
                  </a:txBody>
                  <a:tcPr marL="71374" marR="71374" marT="35687" marB="356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Sales profit fluctuates across months, with </a:t>
                      </a: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October and November showing stronger profitability</a:t>
                      </a: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indicating seasonal demand.</a:t>
                      </a:r>
                    </a:p>
                  </a:txBody>
                  <a:tcPr marL="71374" marR="71374" marT="35687" marB="35687" anchor="ctr"/>
                </a:tc>
                <a:extLst>
                  <a:ext uri="{0D108BD9-81ED-4DB2-BD59-A6C34878D82A}">
                    <a16:rowId xmlns:a16="http://schemas.microsoft.com/office/drawing/2014/main" val="655262584"/>
                  </a:ext>
                </a:extLst>
              </a:tr>
              <a:tr h="20452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Which states contribute the most to sales profit?</a:t>
                      </a:r>
                    </a:p>
                  </a:txBody>
                  <a:tcPr marL="71374" marR="71374" marT="35687" marB="356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Rajasthan, Uttar Pradesh, and Delhi</a:t>
                      </a: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are the top contributors, highlighting key high-performing markets.</a:t>
                      </a:r>
                    </a:p>
                  </a:txBody>
                  <a:tcPr marL="71374" marR="71374" marT="35687" marB="35687" anchor="ctr"/>
                </a:tc>
                <a:extLst>
                  <a:ext uri="{0D108BD9-81ED-4DB2-BD59-A6C34878D82A}">
                    <a16:rowId xmlns:a16="http://schemas.microsoft.com/office/drawing/2014/main" val="210449410"/>
                  </a:ext>
                </a:extLst>
              </a:tr>
              <a:tr h="20452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is the average order value?</a:t>
                      </a:r>
                    </a:p>
                  </a:txBody>
                  <a:tcPr marL="71374" marR="71374" marT="35687" marB="356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</a:t>
                      </a: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order value is 3,596.26</a:t>
                      </a: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reflecting moderate customer spending per transaction.</a:t>
                      </a:r>
                    </a:p>
                  </a:txBody>
                  <a:tcPr marL="71374" marR="71374" marT="35687" marB="35687" anchor="ctr"/>
                </a:tc>
                <a:extLst>
                  <a:ext uri="{0D108BD9-81ED-4DB2-BD59-A6C34878D82A}">
                    <a16:rowId xmlns:a16="http://schemas.microsoft.com/office/drawing/2014/main" val="2872146506"/>
                  </a:ext>
                </a:extLst>
              </a:tr>
            </a:tbl>
          </a:graphicData>
        </a:graphic>
      </p:graphicFrame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2888C521-3726-D979-6953-CE1C406B306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9734973" y="2260506"/>
            <a:ext cx="1084462" cy="980023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17D58FA0-9391-439F-61CF-D2D2B873B6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0195" y="4664909"/>
            <a:ext cx="1243692" cy="114005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5E36ADA-8BAC-9837-58E0-46A502E1F5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0195" y="6977975"/>
            <a:ext cx="1243692" cy="11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12115"/>
      </p:ext>
    </p:extLst>
  </p:cSld>
  <p:clrMapOvr>
    <a:masterClrMapping/>
  </p:clrMapOvr>
  <p:transition spd="slow">
    <p:wheel spokes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57B401-5DCF-0DC8-6FE9-89CB3EE2F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473" y="5447211"/>
            <a:ext cx="3604482" cy="29783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7771FA-57CB-0605-3F44-98C5E7BF7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75" y="5447211"/>
            <a:ext cx="4737010" cy="29783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430E538-6E9B-A917-CC19-72D281271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75" y="836024"/>
            <a:ext cx="4737010" cy="44805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CFDB73E-9BFB-F7DC-D150-676FEE985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552" y="6825829"/>
            <a:ext cx="566977" cy="201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318F066-5D0C-8AE0-A152-D8265B502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553" y="2019135"/>
            <a:ext cx="566977" cy="201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CB3434F-ADFE-78EB-B3E8-10A88153EF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1472" y="836024"/>
            <a:ext cx="3604482" cy="4480559"/>
          </a:xfrm>
          <a:prstGeom prst="rect">
            <a:avLst/>
          </a:prstGeom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6E3BAB7-6D14-E467-CC45-960F73F02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493536"/>
              </p:ext>
            </p:extLst>
          </p:nvPr>
        </p:nvGraphicFramePr>
        <p:xfrm>
          <a:off x="10858941" y="836024"/>
          <a:ext cx="6783354" cy="758951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91677">
                  <a:extLst>
                    <a:ext uri="{9D8B030D-6E8A-4147-A177-3AD203B41FA5}">
                      <a16:colId xmlns:a16="http://schemas.microsoft.com/office/drawing/2014/main" val="3190473813"/>
                    </a:ext>
                  </a:extLst>
                </a:gridCol>
                <a:gridCol w="3391677">
                  <a:extLst>
                    <a:ext uri="{9D8B030D-6E8A-4147-A177-3AD203B41FA5}">
                      <a16:colId xmlns:a16="http://schemas.microsoft.com/office/drawing/2014/main" val="643578117"/>
                    </a:ext>
                  </a:extLst>
                </a:gridCol>
              </a:tblGrid>
              <a:tr h="11556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Questions</a:t>
                      </a:r>
                    </a:p>
                  </a:txBody>
                  <a:tcPr marL="71374" marR="71374" marT="35687" marB="3568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Insights</a:t>
                      </a:r>
                    </a:p>
                  </a:txBody>
                  <a:tcPr marL="71374" marR="71374" marT="35687" marB="35687" anchor="ctr"/>
                </a:tc>
                <a:extLst>
                  <a:ext uri="{0D108BD9-81ED-4DB2-BD59-A6C34878D82A}">
                    <a16:rowId xmlns:a16="http://schemas.microsoft.com/office/drawing/2014/main" val="3331872428"/>
                  </a:ext>
                </a:extLst>
              </a:tr>
              <a:tr h="3644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 does month-over-month sales performance change?</a:t>
                      </a:r>
                    </a:p>
                  </a:txBody>
                  <a:tcPr marL="71374" marR="71374" marT="35687" marB="356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Sales show </a:t>
                      </a: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both growth and decline across months</a:t>
                      </a: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with sharp drops in </a:t>
                      </a: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December</a:t>
                      </a: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signaling possible season-end slowdown.</a:t>
                      </a:r>
                    </a:p>
                  </a:txBody>
                  <a:tcPr marL="71374" marR="71374" marT="35687" marB="35687" anchor="ctr"/>
                </a:tc>
                <a:extLst>
                  <a:ext uri="{0D108BD9-81ED-4DB2-BD59-A6C34878D82A}">
                    <a16:rowId xmlns:a16="http://schemas.microsoft.com/office/drawing/2014/main" val="3920033705"/>
                  </a:ext>
                </a:extLst>
              </a:tr>
              <a:tr h="2789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Which cities contribute the highest share of revenue?</a:t>
                      </a:r>
                    </a:p>
                  </a:txBody>
                  <a:tcPr marL="71374" marR="71374" marT="35687" marB="356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Kolkata, Mysuru, and Jammu</a:t>
                      </a: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lead city-wise revenue contribution, indicating strong urban demand concentration.</a:t>
                      </a:r>
                    </a:p>
                  </a:txBody>
                  <a:tcPr marL="71374" marR="71374" marT="35687" marB="35687" anchor="ctr"/>
                </a:tc>
                <a:extLst>
                  <a:ext uri="{0D108BD9-81ED-4DB2-BD59-A6C34878D82A}">
                    <a16:rowId xmlns:a16="http://schemas.microsoft.com/office/drawing/2014/main" val="3080785502"/>
                  </a:ext>
                </a:extLst>
              </a:tr>
            </a:tbl>
          </a:graphicData>
        </a:graphic>
      </p:graphicFrame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F4A9A89D-D73F-3598-51A8-02E5076A8848}"/>
              </a:ext>
            </a:extLst>
          </p:cNvPr>
          <p:cNvCxnSpPr>
            <a:stCxn id="29" idx="3"/>
          </p:cNvCxnSpPr>
          <p:nvPr/>
        </p:nvCxnSpPr>
        <p:spPr>
          <a:xfrm>
            <a:off x="9875954" y="3076303"/>
            <a:ext cx="914400" cy="914400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71679F0F-6607-3282-8A6E-CDC015BD7D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0953" y="5954025"/>
            <a:ext cx="1072989" cy="1072989"/>
          </a:xfrm>
          <a:prstGeom prst="rect">
            <a:avLst/>
          </a:prstGeom>
        </p:spPr>
      </p:pic>
      <p:sp>
        <p:nvSpPr>
          <p:cNvPr id="43" name="Title 42">
            <a:extLst>
              <a:ext uri="{FF2B5EF4-FFF2-40B4-BE49-F238E27FC236}">
                <a16:creationId xmlns:a16="http://schemas.microsoft.com/office/drawing/2014/main" id="{7B8798C2-A473-B5D6-FE8D-C9693C199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8403" y="139854"/>
            <a:ext cx="15873891" cy="696169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ANALYSIS</a:t>
            </a:r>
          </a:p>
        </p:txBody>
      </p:sp>
    </p:spTree>
    <p:extLst>
      <p:ext uri="{BB962C8B-B14F-4D97-AF65-F5344CB8AC3E}">
        <p14:creationId xmlns:p14="http://schemas.microsoft.com/office/powerpoint/2010/main" val="1136736471"/>
      </p:ext>
    </p:extLst>
  </p:cSld>
  <p:clrMapOvr>
    <a:masterClrMapping/>
  </p:clrMapOvr>
  <p:transition spd="slow">
    <p:wheel spokes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5A357AD-056A-8426-BA88-4CABD6A4E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12" y="3984441"/>
            <a:ext cx="4743099" cy="23113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CC994E-451F-3073-3EC4-65AC85E35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881" y="3981421"/>
            <a:ext cx="3887963" cy="23144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A12CFFC-6676-920E-9B58-2795C471D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903" y="2793205"/>
            <a:ext cx="566977" cy="2011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CAA751-D9C0-843E-C472-52E028EEC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903" y="5138621"/>
            <a:ext cx="566977" cy="2011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EF2DEDE-CF90-9A77-4A8B-2138A34A8B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12" y="1472569"/>
            <a:ext cx="4743099" cy="23113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2CBD56E-98CA-2D72-2D18-B122FFC324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0881" y="1511911"/>
            <a:ext cx="3887963" cy="2272040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B877E844-7388-D340-794E-69219FCDD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12" y="210345"/>
            <a:ext cx="16525799" cy="874838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ANALYSIS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27D903C-BCD4-9D7E-0E72-BB58D5973A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19" y="6470399"/>
            <a:ext cx="4755292" cy="217036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5BEF717-C02B-6328-00B6-A793899E33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0881" y="6470399"/>
            <a:ext cx="3887963" cy="217036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EA0D947-8196-AEC8-B98F-FE0B07B4E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7807" y="7354396"/>
            <a:ext cx="566977" cy="20118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E26E11F-AF4F-598F-A6ED-887DB2CCB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534106"/>
              </p:ext>
            </p:extLst>
          </p:nvPr>
        </p:nvGraphicFramePr>
        <p:xfrm>
          <a:off x="11027390" y="1472569"/>
          <a:ext cx="6701051" cy="705728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29139">
                  <a:extLst>
                    <a:ext uri="{9D8B030D-6E8A-4147-A177-3AD203B41FA5}">
                      <a16:colId xmlns:a16="http://schemas.microsoft.com/office/drawing/2014/main" val="2228239561"/>
                    </a:ext>
                  </a:extLst>
                </a:gridCol>
                <a:gridCol w="3371912">
                  <a:extLst>
                    <a:ext uri="{9D8B030D-6E8A-4147-A177-3AD203B41FA5}">
                      <a16:colId xmlns:a16="http://schemas.microsoft.com/office/drawing/2014/main" val="2296191227"/>
                    </a:ext>
                  </a:extLst>
                </a:gridCol>
              </a:tblGrid>
              <a:tr h="6656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Questions</a:t>
                      </a:r>
                      <a:endParaRPr lang="en-IN" sz="2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Insights</a:t>
                      </a:r>
                      <a:endParaRPr lang="en-IN" sz="2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5073859"/>
                  </a:ext>
                </a:extLst>
              </a:tr>
              <a:tr h="22503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Which products are the lowest performing?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Certain </a:t>
                      </a: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Kids and Women category products</a:t>
                      </a: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have very low quantities and sales, making them candidates for discontinuation.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3466970"/>
                  </a:ext>
                </a:extLst>
              </a:tr>
              <a:tr h="22503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are the most sold clothing types by quantity?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Dresses, T-shirts, Jackets, and Skirts</a:t>
                      </a: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dominate sales volume, showing customer preference for apparel staples.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7153093"/>
                  </a:ext>
                </a:extLst>
              </a:tr>
              <a:tr h="189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Which category–clothing combinations generate the highest profit?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Men and Women categories combined with Dresses and Tops</a:t>
                      </a: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generate higher profits, driving core revenue.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6777597"/>
                  </a:ext>
                </a:extLst>
              </a:tr>
            </a:tbl>
          </a:graphicData>
        </a:graphic>
      </p:graphicFrame>
      <p:pic>
        <p:nvPicPr>
          <p:cNvPr id="27" name="Picture 26">
            <a:extLst>
              <a:ext uri="{FF2B5EF4-FFF2-40B4-BE49-F238E27FC236}">
                <a16:creationId xmlns:a16="http://schemas.microsoft.com/office/drawing/2014/main" id="{726C158F-8EC8-6227-BA8D-2AF7E73E59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9892" y="2517794"/>
            <a:ext cx="697498" cy="118821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C831D26-CA16-D310-0000-42D4113AD6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9892" y="6974031"/>
            <a:ext cx="697498" cy="118821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DD11EF2-D671-2287-ED2A-BB040EC457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9892" y="4829176"/>
            <a:ext cx="697498" cy="118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79865"/>
      </p:ext>
    </p:extLst>
  </p:cSld>
  <p:clrMapOvr>
    <a:masterClrMapping/>
  </p:clrMapOvr>
  <p:transition spd="slow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1E52FC-0667-682C-8125-EED9466EA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490" y="1104097"/>
            <a:ext cx="3016154" cy="24266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22D4A1-A655-F64C-A3A0-047FB024D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490" y="3833947"/>
            <a:ext cx="3016154" cy="20423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BF6E82-700A-1846-0D8B-1A5C1DBAE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25" y="6274703"/>
            <a:ext cx="4465708" cy="21175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2C0FB1-5AC6-F98A-C52C-F1F4EE5D7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625" y="3833948"/>
            <a:ext cx="4465707" cy="20423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82994F-E552-D96B-09FF-DC7DDE7B2E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625" y="1104097"/>
            <a:ext cx="4465707" cy="2426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03CF493-D32A-1936-826B-C4591CD6D8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7422" y="2116244"/>
            <a:ext cx="566977" cy="2011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66B12DE-98AF-A886-F130-5911EB76C9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7422" y="4653930"/>
            <a:ext cx="566977" cy="2011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4F50FC6-1CD9-C2E3-F4AC-B1D03A3E7D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7422" y="7132289"/>
            <a:ext cx="566977" cy="201185"/>
          </a:xfrm>
          <a:prstGeom prst="rect">
            <a:avLst/>
          </a:prstGeom>
        </p:spPr>
      </p:pic>
      <p:sp>
        <p:nvSpPr>
          <p:cNvPr id="22" name="Title 19">
            <a:extLst>
              <a:ext uri="{FF2B5EF4-FFF2-40B4-BE49-F238E27FC236}">
                <a16:creationId xmlns:a16="http://schemas.microsoft.com/office/drawing/2014/main" id="{6381FBFC-F2B5-3F44-FCFC-46A86C1C720A}"/>
              </a:ext>
            </a:extLst>
          </p:cNvPr>
          <p:cNvSpPr txBox="1">
            <a:spLocks/>
          </p:cNvSpPr>
          <p:nvPr/>
        </p:nvSpPr>
        <p:spPr>
          <a:xfrm>
            <a:off x="495745" y="117567"/>
            <a:ext cx="16959742" cy="785346"/>
          </a:xfrm>
          <a:prstGeom prst="rect">
            <a:avLst/>
          </a:prstGeom>
        </p:spPr>
        <p:txBody>
          <a:bodyPr/>
          <a:lstStyle>
            <a:lvl1pPr algn="ctr" defTabSz="576072" rtl="0" eaLnBrk="1" latinLnBrk="0" hangingPunct="1">
              <a:spcBef>
                <a:spcPct val="0"/>
              </a:spcBef>
              <a:buNone/>
              <a:defRPr sz="504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ANALYSIS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012CD99-FC26-76FF-934A-99F4ADF77D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879989"/>
              </p:ext>
            </p:extLst>
          </p:nvPr>
        </p:nvGraphicFramePr>
        <p:xfrm>
          <a:off x="10522423" y="1104097"/>
          <a:ext cx="6933064" cy="728814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466532">
                  <a:extLst>
                    <a:ext uri="{9D8B030D-6E8A-4147-A177-3AD203B41FA5}">
                      <a16:colId xmlns:a16="http://schemas.microsoft.com/office/drawing/2014/main" val="1981663645"/>
                    </a:ext>
                  </a:extLst>
                </a:gridCol>
                <a:gridCol w="3466532">
                  <a:extLst>
                    <a:ext uri="{9D8B030D-6E8A-4147-A177-3AD203B41FA5}">
                      <a16:colId xmlns:a16="http://schemas.microsoft.com/office/drawing/2014/main" val="3114964984"/>
                    </a:ext>
                  </a:extLst>
                </a:gridCol>
              </a:tblGrid>
              <a:tr h="5727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Questions</a:t>
                      </a:r>
                      <a:endParaRPr lang="en-IN" sz="2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Insights</a:t>
                      </a:r>
                      <a:endParaRPr lang="en-IN" sz="2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94544"/>
                  </a:ext>
                </a:extLst>
              </a:tr>
              <a:tr h="28441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Who are the top customers by total spend?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small group of customers contributes significantly, with </a:t>
                      </a:r>
                      <a:r>
                        <a:rPr lang="en-US" sz="23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Christopher Smith</a:t>
                      </a:r>
                      <a:r>
                        <a:rPr lang="en-US" sz="23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being the highest spender.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315339"/>
                  </a:ext>
                </a:extLst>
              </a:tr>
              <a:tr h="19356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 many repeat customers does the business have?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There are </a:t>
                      </a: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 repeat customers</a:t>
                      </a: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indicating limited but valuable customer retention.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45789"/>
                  </a:ext>
                </a:extLst>
              </a:tr>
              <a:tr h="19356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is the average quantity purchased per customer?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 average, each customer purchases </a:t>
                      </a: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 items</a:t>
                      </a: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suggesting moderate basket size.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3913070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008B4193-7DD4-210A-F747-EA8E81AB8D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4490" y="6179468"/>
            <a:ext cx="3040867" cy="2212778"/>
          </a:xfrm>
          <a:prstGeom prst="rect">
            <a:avLst/>
          </a:prstGeom>
        </p:spPr>
      </p:pic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E51E3D3C-287D-8676-6EDF-557277128B77}"/>
              </a:ext>
            </a:extLst>
          </p:cNvPr>
          <p:cNvCxnSpPr>
            <a:stCxn id="5" idx="3"/>
          </p:cNvCxnSpPr>
          <p:nvPr/>
        </p:nvCxnSpPr>
        <p:spPr>
          <a:xfrm>
            <a:off x="9560644" y="2317429"/>
            <a:ext cx="914400" cy="914400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577E6D60-91FB-7A8F-3747-DC7423B253E0}"/>
              </a:ext>
            </a:extLst>
          </p:cNvPr>
          <p:cNvCxnSpPr>
            <a:stCxn id="9" idx="3"/>
          </p:cNvCxnSpPr>
          <p:nvPr/>
        </p:nvCxnSpPr>
        <p:spPr>
          <a:xfrm>
            <a:off x="9560644" y="4855115"/>
            <a:ext cx="914400" cy="914400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1DA2F7C6-2828-D438-2223-7046F16FF39F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9585357" y="7285857"/>
            <a:ext cx="889687" cy="820913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256718"/>
      </p:ext>
    </p:extLst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71853-B5EB-9227-BDBE-294FEBDB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1485" y="248195"/>
            <a:ext cx="14791952" cy="822960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35C7E7-5FAA-56B9-442E-8F6118885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31" y="2101756"/>
            <a:ext cx="4301650" cy="233954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CD4357-4ACA-D2AA-BFDD-B8CC17AD8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635" y="1980838"/>
            <a:ext cx="2784616" cy="23395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CBC3CD-E790-CEF2-651E-93026870C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531" y="4950672"/>
            <a:ext cx="4252328" cy="281315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A35D2D-FF05-65F2-7343-48A74133B1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635" y="4950672"/>
            <a:ext cx="2693176" cy="2813150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658182-5E7C-EDC4-7C63-7D3D49E6D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803458"/>
              </p:ext>
            </p:extLst>
          </p:nvPr>
        </p:nvGraphicFramePr>
        <p:xfrm>
          <a:off x="10085696" y="1951630"/>
          <a:ext cx="6897378" cy="581219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448689">
                  <a:extLst>
                    <a:ext uri="{9D8B030D-6E8A-4147-A177-3AD203B41FA5}">
                      <a16:colId xmlns:a16="http://schemas.microsoft.com/office/drawing/2014/main" val="22280140"/>
                    </a:ext>
                  </a:extLst>
                </a:gridCol>
                <a:gridCol w="3448689">
                  <a:extLst>
                    <a:ext uri="{9D8B030D-6E8A-4147-A177-3AD203B41FA5}">
                      <a16:colId xmlns:a16="http://schemas.microsoft.com/office/drawing/2014/main" val="3111110252"/>
                    </a:ext>
                  </a:extLst>
                </a:gridCol>
              </a:tblGrid>
              <a:tr h="7880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Question</a:t>
                      </a:r>
                      <a:endParaRPr lang="en-IN" sz="2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Insights</a:t>
                      </a:r>
                      <a:endParaRPr lang="en-IN" sz="2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9556594"/>
                  </a:ext>
                </a:extLst>
              </a:tr>
              <a:tr h="2986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 do owned vs rented stores perform in sales?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Rented stores slightly outperform owned stores</a:t>
                      </a: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in total sales, suggesting better location or scalability.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0852662"/>
                  </a:ext>
                </a:extLst>
              </a:tr>
              <a:tr h="20379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Which stores are the top profit generators?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Store IDs </a:t>
                      </a: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13, 68, and 4</a:t>
                      </a: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lead in profit, representing best-performing outlets.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2503563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B58C7602-D4D4-9B4F-BC1C-80F8676CF0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6419" y="3170934"/>
            <a:ext cx="566977" cy="201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D9B655-E0AC-A6CC-8AB5-9E5791DCD3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1758" y="6256654"/>
            <a:ext cx="566977" cy="201185"/>
          </a:xfrm>
          <a:prstGeom prst="rect">
            <a:avLst/>
          </a:prstGeom>
        </p:spPr>
      </p:pic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7A56DA28-B746-58CE-467E-575289188631}"/>
              </a:ext>
            </a:extLst>
          </p:cNvPr>
          <p:cNvCxnSpPr>
            <a:stCxn id="6" idx="3"/>
          </p:cNvCxnSpPr>
          <p:nvPr/>
        </p:nvCxnSpPr>
        <p:spPr>
          <a:xfrm>
            <a:off x="9196251" y="3150609"/>
            <a:ext cx="914400" cy="914400"/>
          </a:xfrm>
          <a:prstGeom prst="curved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2DF42053-195D-30ED-17AC-47056A1DFD64}"/>
              </a:ext>
            </a:extLst>
          </p:cNvPr>
          <p:cNvCxnSpPr>
            <a:stCxn id="10" idx="3"/>
          </p:cNvCxnSpPr>
          <p:nvPr/>
        </p:nvCxnSpPr>
        <p:spPr>
          <a:xfrm>
            <a:off x="9104811" y="6357246"/>
            <a:ext cx="914400" cy="914400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BB40E842-6E75-0315-ED2C-84E875B1E2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8759" y="6097560"/>
            <a:ext cx="1072989" cy="10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434358"/>
      </p:ext>
    </p:extLst>
  </p:cSld>
  <p:clrMapOvr>
    <a:masterClrMapping/>
  </p:clrMapOvr>
  <p:transition spd="slow">
    <p:wheel spokes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B5A8628-6A86-7104-0C0B-A8380D3AB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850" y="1109191"/>
            <a:ext cx="5308576" cy="25632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7A4A403-2266-7EDA-4784-A6BA360CE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233" y="1107705"/>
            <a:ext cx="2564178" cy="25632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968014-F015-AE0A-5F5D-2E2AF0FF4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852" y="3897464"/>
            <a:ext cx="5308576" cy="25632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96C542B-0049-69BE-5C3A-88D34CA5F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2233" y="3897464"/>
            <a:ext cx="2564178" cy="25844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01BA7B4-D41E-CADE-68CE-05ACC27CF8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8341" y="2389348"/>
            <a:ext cx="566977" cy="2011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70E4CFA-D404-DBB4-ACE8-46E0443F41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8341" y="4962956"/>
            <a:ext cx="566977" cy="201185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71B48BCC-87EA-BA4B-EB04-B6D71491E9C6}"/>
              </a:ext>
            </a:extLst>
          </p:cNvPr>
          <p:cNvSpPr txBox="1">
            <a:spLocks/>
          </p:cNvSpPr>
          <p:nvPr/>
        </p:nvSpPr>
        <p:spPr>
          <a:xfrm>
            <a:off x="1345474" y="248195"/>
            <a:ext cx="16197943" cy="82296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576072" rtl="0" eaLnBrk="1" latinLnBrk="0" hangingPunct="1">
              <a:spcBef>
                <a:spcPct val="0"/>
              </a:spcBef>
              <a:buNone/>
              <a:defRPr sz="504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TIME-BASED ANALYSIS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A032EE5-18A0-CE85-D1A2-811BD3F9DC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2849" y="6685737"/>
            <a:ext cx="5308575" cy="181818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BB56304-7273-52BE-B36F-944E0F944A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2233" y="6685737"/>
            <a:ext cx="2564178" cy="181818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F92A0E8-E272-4E1D-C795-157D673384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8341" y="7393643"/>
            <a:ext cx="566977" cy="201185"/>
          </a:xfrm>
          <a:prstGeom prst="rect">
            <a:avLst/>
          </a:prstGeom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6F913CE-EBAB-EAD5-BDDB-63B5107CA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196491"/>
              </p:ext>
            </p:extLst>
          </p:nvPr>
        </p:nvGraphicFramePr>
        <p:xfrm>
          <a:off x="11259403" y="1034470"/>
          <a:ext cx="6550925" cy="735809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61814">
                  <a:extLst>
                    <a:ext uri="{9D8B030D-6E8A-4147-A177-3AD203B41FA5}">
                      <a16:colId xmlns:a16="http://schemas.microsoft.com/office/drawing/2014/main" val="2462503530"/>
                    </a:ext>
                  </a:extLst>
                </a:gridCol>
                <a:gridCol w="3289111">
                  <a:extLst>
                    <a:ext uri="{9D8B030D-6E8A-4147-A177-3AD203B41FA5}">
                      <a16:colId xmlns:a16="http://schemas.microsoft.com/office/drawing/2014/main" val="3846246128"/>
                    </a:ext>
                  </a:extLst>
                </a:gridCol>
              </a:tblGrid>
              <a:tr h="6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Questions</a:t>
                      </a:r>
                      <a:endParaRPr lang="en-IN" sz="2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Insights</a:t>
                      </a:r>
                      <a:endParaRPr lang="en-IN" sz="2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95484"/>
                  </a:ext>
                </a:extLst>
              </a:tr>
              <a:tr h="2084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Which is the peak sales month?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October</a:t>
                      </a:r>
                      <a:r>
                        <a:rPr lang="en-US" sz="23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is the peak sales month, indicating strong festive or seasonal demand.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2988570"/>
                  </a:ext>
                </a:extLst>
              </a:tr>
              <a:tr h="25732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is the overall monthly sales trend?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Sales remain relatively stable with peaks around </a:t>
                      </a:r>
                      <a:r>
                        <a:rPr lang="en-US" sz="23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April, August, and October</a:t>
                      </a:r>
                      <a:r>
                        <a:rPr lang="en-US" sz="23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showing cyclical buying behavior.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337231"/>
                  </a:ext>
                </a:extLst>
              </a:tr>
              <a:tr h="20840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 does order volume vary by month?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October and November record the highest order volumes</a:t>
                      </a:r>
                      <a:r>
                        <a:rPr lang="en-US" sz="2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aligning with peak sales periods.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041371"/>
                  </a:ext>
                </a:extLst>
              </a:tr>
            </a:tbl>
          </a:graphicData>
        </a:graphic>
      </p:graphicFrame>
      <p:pic>
        <p:nvPicPr>
          <p:cNvPr id="41" name="Picture 40">
            <a:extLst>
              <a:ext uri="{FF2B5EF4-FFF2-40B4-BE49-F238E27FC236}">
                <a16:creationId xmlns:a16="http://schemas.microsoft.com/office/drawing/2014/main" id="{615774E2-C816-4BA5-A310-64B1D94C85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61861" y="1869605"/>
            <a:ext cx="797538" cy="136421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48BA03A-6FBA-CD1D-D148-22DE24000AE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8403" y="4469440"/>
            <a:ext cx="929845" cy="118821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ABB6651-9291-1FF9-7228-83E0A9BCD1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76411" y="6900127"/>
            <a:ext cx="782988" cy="118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025245"/>
      </p:ext>
    </p:extLst>
  </p:cSld>
  <p:clrMapOvr>
    <a:masterClrMapping/>
  </p:clrMapOvr>
  <p:transition spd="slow">
    <p:wheel spokes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C4C0-F7B4-CEB0-1720-17151AAC1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1483" y="138014"/>
            <a:ext cx="14791952" cy="726063"/>
          </a:xfrm>
          <a:ln>
            <a:noFill/>
          </a:ln>
        </p:spPr>
        <p:txBody>
          <a:bodyPr>
            <a:noAutofit/>
          </a:bodyPr>
          <a:lstStyle/>
          <a:p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&amp; SUGGESTIONS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A35A-7456-E833-1D77-11EB43A8B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5027" y="1023091"/>
            <a:ext cx="8091189" cy="726063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pPr algn="ctr"/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9C36168-9201-FDC3-A728-7D6F4EDE4D9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665027" y="2084977"/>
            <a:ext cx="8091189" cy="6370975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is seasonal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peak activity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October and November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strong festive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Rented stores outperform owned stores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suggesting location advantage and better footfall.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group of customers contributes disproportionately to revenue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highlighting dependence on high-value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Dresses, T-shirts, and Jackets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the most demanded clothing types, driving volume and profit.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Several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low-performing products and categories exist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negatively impacting inventory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 customer count is 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scope for improving customer loyalty.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8C9ECD-5104-5006-3EC0-DFA6D41AC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956801" y="1023091"/>
            <a:ext cx="7621516" cy="726063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pPr algn="ctr"/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SUGGESTIONS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442F4C3-7C8E-849C-0896-1A22DA62810C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9956800" y="2085013"/>
            <a:ext cx="7757993" cy="6370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Seasonal Peaks-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marketing and inventory during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October–November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maximize sales.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Store Mix-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rented stores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high-performing regions and review low-performing owned stores.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Refine Product Portfolio-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Boost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high-demand categories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reduce or reprice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low-performing products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Customer Retention-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loyalty programs and personalized offers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increase repeat customers.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Leverage Top Regions-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 more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high-revenue states and cities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better ROI.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Order Value-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bundling and cross-selling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improve average order size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3147617"/>
      </p:ext>
    </p:extLst>
  </p:cSld>
  <p:clrMapOvr>
    <a:masterClrMapping/>
  </p:clrMapOvr>
  <p:transition spd="slow">
    <p:wheel spokes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B3DA-17A8-EB63-2B00-3F1171922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40" y="3412805"/>
            <a:ext cx="8276346" cy="1815152"/>
          </a:xfrm>
        </p:spPr>
        <p:txBody>
          <a:bodyPr>
            <a:noAutofit/>
          </a:bodyPr>
          <a:lstStyle/>
          <a:p>
            <a:r>
              <a:rPr lang="en-IN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pic>
        <p:nvPicPr>
          <p:cNvPr id="6" name="Content Placeholder 5" descr="Database with solid fill">
            <a:extLst>
              <a:ext uri="{FF2B5EF4-FFF2-40B4-BE49-F238E27FC236}">
                <a16:creationId xmlns:a16="http://schemas.microsoft.com/office/drawing/2014/main" id="{6D91E0C5-54C9-1CF5-8181-D046E8753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69086" y="2468429"/>
            <a:ext cx="2674961" cy="3703904"/>
          </a:xfrm>
        </p:spPr>
      </p:pic>
    </p:spTree>
    <p:extLst>
      <p:ext uri="{BB962C8B-B14F-4D97-AF65-F5344CB8AC3E}">
        <p14:creationId xmlns:p14="http://schemas.microsoft.com/office/powerpoint/2010/main" val="2401354850"/>
      </p:ext>
    </p:extLst>
  </p:cSld>
  <p:clrMapOvr>
    <a:masterClrMapping/>
  </p:clrMapOvr>
  <p:transition spd="slow">
    <p:wheel spokes="1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2036</TotalTime>
  <Words>1038</Words>
  <Application>Microsoft Office PowerPoint</Application>
  <PresentationFormat>Custom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Corbel</vt:lpstr>
      <vt:lpstr>Parallax</vt:lpstr>
      <vt:lpstr>PRESENTED BY OISHIKA BOSE</vt:lpstr>
      <vt:lpstr>PowerPoint Presentation</vt:lpstr>
      <vt:lpstr>DATASET DESCRIPTION</vt:lpstr>
      <vt:lpstr>KEY METRICS</vt:lpstr>
      <vt:lpstr>SALES ANALYSIS</vt:lpstr>
      <vt:lpstr>SALES ANALYSIS</vt:lpstr>
      <vt:lpstr>PRODUCT ANALYSIS</vt:lpstr>
      <vt:lpstr>PowerPoint Presentation</vt:lpstr>
      <vt:lpstr>STORE PERFORMANCE</vt:lpstr>
      <vt:lpstr>PowerPoint Presentation</vt:lpstr>
      <vt:lpstr>CONCLUSION &amp; SUGGESTIONS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Oishika Bose</dc:creator>
  <cp:lastModifiedBy>Oishika Bose</cp:lastModifiedBy>
  <cp:revision>22</cp:revision>
  <dcterms:created xsi:type="dcterms:W3CDTF">2026-01-11T06:22:46Z</dcterms:created>
  <dcterms:modified xsi:type="dcterms:W3CDTF">2026-01-13T20:14:59Z</dcterms:modified>
</cp:coreProperties>
</file>